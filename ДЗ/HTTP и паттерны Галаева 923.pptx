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993" autoAdjust="0"/>
  </p:normalViewPr>
  <p:slideViewPr>
    <p:cSldViewPr snapToGrid="0" snapToObjects="1">
      <p:cViewPr varScale="1">
        <p:scale>
          <a:sx n="63" d="100"/>
          <a:sy n="63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B8E67-4282-4F17-9278-D66DFC2C6B8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15B24-7D0E-49AC-90B0-07234A4D6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62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Сейчас поговорим про две вещи: как работает HTTP — то есть что происходит, когда вы вводите адрес в браузере, — и про паттерны проектирования, а точнее порождающие паттерны. Обе темы про одно: как сделать так, чтобы система работала быстро и не разваливалась при изменениях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694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— это просто набор правил, как браузер и сервер разговаривают друг с другом. Вы спрашиваете — сервер отвечает. Как в магазине: вы говорите «мне вот тот хлеб», продавец подаёт. Только всё это за доли секунд.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фишка HTTP — он без памяти. Каждый запрос сам по себе. Сервер не помнит, что вы просили секунду назад. Это как общаться с человеком, у которого амнезия: каждый раз приходится заново представляться. Поэтому придумали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cookies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токены — чтобы передавать контекст каждый раз.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640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эволюционировал тридцать лет. Сначала был супер-простой: только GET, никаких заголовков. Потом оброс возможностями — появились коды ответов, новые методы. Версия 1.1 стала долгожителем: добавила постоянные соединения, чтобы не заново подключаться каждый раз. HTTP/2 в 2015 году сделал прорыв — научился передавать несколько запросов по одному проводу одновременно. А HTTP/3 вообще сменил фундамент — заменил TCP на QUIC, чтобы лучше работать на мобильных сетях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492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Любой HTTP-запрос — это три части. Стартовая строка: «что хочу и откуда». Заголовки: «кто я, что принимаю, какие куки». И тело — если что-то отправляете, например форму. На слайде виден пример — обычный GET-запрос. Видите, заголовков куча, а полезной нагрузки ноль. Это нормально для GET. И именно поэтому в HTTP/2 придумали сжимать заголовки — чтобы не гонять одно и то же по сети.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278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Методы — это глаголы. GET — «дай», POST — «создай», PUT — «замени», DELETE — «удали». Важное слово — идемпотентность. Если нажать DELETE десять раз, результат один и тот же — удалён. А вот POST десять раз создаст десять копий.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Коды ответов — как светофор. Двойки — всё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тройки — иди туда-то, четвёрки — ты накосячил, пятёрки — сервер накосячил.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758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самое интересное — что вообще происходит, когда вы кликаете по ссылке. Девять шагов. Вы кликнули. Браузер спрашивает у DNS: «какой IP у этого домена?» — как ищете номер в телефонной книге. Потом рукопожатие TCP — три шага: «привет», «привет, готов», «тогда поехали». Если HTTPS — ещё одно рукопожатие, но уже с шифрованием. Запрос ушёл, сервер подумал, ответил. Браузер нарисовал страницу. Соединение закрылось или осталось открытым на потом. Всё это — сотни миллисекунд.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105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 проходит весь стек — от приложения до физического уровня. Представьте матрёшку: HTTP-сообщение заворачивается в TCP-пакет, тот в IP, тот в кадр Ethernet, тот в электрический сигнал. На сервере — обратная распаковка, слой за слоем. А чтобы это летало быстрее — придумали сжатие, постоянные соединения и кэширование.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150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 — это тот же HTTP, но в конверте с печатью. Шифрование, проверка подлинности, защита от подмены.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HTTP/2 — это как многополосная дорога вместо однополосной. Раньше запросы стояли в очереди, а теперь едут параллельно по одному соединению. Заголовки сжаты, формат бинарный — компактнее.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HTTP/3 пошёл ещё дальше — перестроил фундамент. Вместо TCP — QUIC на базе UDP. Представьте, что в поезде один вагон отцепился — в старом варианте весь поезд останавливается. В QUIC остальные вагоны едут дальше.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614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Заголовки безопасности — это как замки на дверях. CSP — что можно грузить на страницу, а что нет. HSTS — принудительный HTTPS, никаких откатов. CORS — кто имеет право обращаться к вашему API.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SameSite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cookies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чтобы куки не ушли на чужой сайт. Всё это настраивается заголовками и должно быть в любом серьёзном проекте.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6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 реальных примера. Первый: сайт тормозил, потому что браузер открывал максимум шесть соединений на домен, а ресурсов было десятки.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Переши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HTTP/2 — мультиплексирование решило всё, загрузка быстрее на 40%. Второй: мобильная версия магазина грузилась пять секунд — десятки отдельных запросов. Объединили файлы, добавили кэширование, перешли на HTTP/2 — ускорение на 67%, конверсия выросла на 23%. Мораль: знание протокола напрямую влияет на деньги.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631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вторая часть — паттерны проектирования. Паттерн — это проверенный рецепт решения типовой задачи. Не алгоритм, не формула, а именно структура: как классы и объекты должны взаимодействовать. Паттерны не зависят от языка — то же решение работает и на Java, и на C++, и на Python.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434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Порождающие паттерны — про создание объектов. Их пять, но сегодня разберём три: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Factory,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Factory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422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Представьте, что вы заказываете мебель. Есть фабрика «Икеа» и фабрика «Люкс». Обе делают стулья, столы и полки — но в разном стиле. Вы говорите фабрике «мне стул», и не важно, какая это фабрика — стул будет, просто разный. В коде это абстрактная фабрика: интерфейс, который создаёт семейство связанных объектов, а конкретная реализация подставляется в зависимости от платформы. Классический пример — GUI: на Windows одни кнопки,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другие, а код приложения один и тот же.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188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Минус: если захотите новый тип продукта — например, не только стулья и столы, но ещё и лампы, — придётся менять интерфейс фабрики и все её реализации. Это больно. И ещё: клиент видит только абстрактные интерфейсы, не знает, с чем конкретно работает.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552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Строитель — как сборка IKEA. У вас есть инструкция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есть набор деталей. Один и тот же процесс сборки может дать разный результат, если подставить другого строителя. Пример из лекции: конвертер текста. Один и тот же читатель-распорядитель проходит по документу, а конкретный строитель решает, во что это превратить — в PDF, HTML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Меняем строителя — меняется результат, код распорядителя не трогаем.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85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Строитель — как сборка IKEA. У вас есть инструкция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есть набор деталей. Один и тот же процесс сборки может дать разный результат, если подставить другого строителя. Пример из лекции: конвертер текста. Один и тот же читатель-распорядитель проходит по документу, а конкретный строитель решает, во что это превратить — в PDF, HTML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Меняем строителя — меняется результат, код распорядителя не трогаем.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527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Фабричный метод — это когда родитель знает,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создать объект, но не знает,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какой именно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Оставляет это решение подклассу. Пример: класс Application управляет документами — открывает, закрывает, сохраняет. Но документ абстрактный,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инстанцировать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нельзя. Поэтому Application объявляет метод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CreateDocument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конкретный подкласс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MyApplication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уже решает: «а, ну тогда создаём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MyDocument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Родитель делегирует, подкласс решает.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717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Короткий итог. HTTP — это про то, как данные летают по сети: от клика до рендеринга, через DNS, TCP, TLS, сервер и обратно. Паттерны — про то, как писать код, который не придётся переписывать при каждом изменении.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Factory — семейства объектов,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пошаговая сборка, Factory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делегирование создания подклассам. И там, и там: чем глубже понимаете фундамент, тем меньше боли в проектах.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15B24-7D0E-49AC-90B0-07234A4D6E5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47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4A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Жизненный цикл HTTP</a:t>
            </a:r>
            <a:br/>
            <a:r>
              <a:t>и паттерны программирования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8A95"/>
                </a:solidFill>
                <a:latin typeface="Segoe UI"/>
              </a:defRPr>
            </a:pPr>
            <a:r>
              <a:rPr dirty="0" err="1"/>
              <a:t>Протокол</a:t>
            </a:r>
            <a:r>
              <a:rPr dirty="0"/>
              <a:t> HTTP · </a:t>
            </a:r>
            <a:r>
              <a:rPr dirty="0" err="1"/>
              <a:t>Порождающие</a:t>
            </a:r>
            <a:r>
              <a:rPr dirty="0"/>
              <a:t> </a:t>
            </a:r>
            <a:r>
              <a:rPr dirty="0" err="1"/>
              <a:t>паттерны</a:t>
            </a:r>
            <a:r>
              <a:rPr dirty="0"/>
              <a:t> </a:t>
            </a:r>
            <a:r>
              <a:rPr dirty="0" err="1"/>
              <a:t>проектирования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302496" y="5638800"/>
            <a:ext cx="27671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8899"/>
                </a:solidFill>
                <a:latin typeface="Segoe UI"/>
              </a:defRPr>
            </a:pPr>
            <a:r>
              <a:rPr lang="ru-RU" sz="2400" dirty="0"/>
              <a:t>Галаева Софья</a:t>
            </a:r>
          </a:p>
          <a:p>
            <a:pPr algn="ctr">
              <a:defRPr sz="1600" b="0">
                <a:solidFill>
                  <a:srgbClr val="CC8899"/>
                </a:solidFill>
                <a:latin typeface="Segoe UI"/>
              </a:defRPr>
            </a:pPr>
            <a:r>
              <a:rPr lang="ru-RU" sz="2400" dirty="0"/>
              <a:t>Группа 923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Что такое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7488"/>
            <a:ext cx="105156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rPr b="1" dirty="0" err="1"/>
              <a:t>HyperText</a:t>
            </a:r>
            <a:r>
              <a:rPr b="1" dirty="0"/>
              <a:t> Transfer Protocol </a:t>
            </a:r>
            <a:r>
              <a:rPr lang="ru-RU" b="1" dirty="0"/>
              <a:t>–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прикладного</a:t>
            </a:r>
            <a:r>
              <a:rPr dirty="0"/>
              <a:t> </a:t>
            </a:r>
            <a:r>
              <a:rPr dirty="0" err="1"/>
              <a:t>уровня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rPr dirty="0" err="1"/>
              <a:t>Передаёт</a:t>
            </a:r>
            <a:r>
              <a:rPr dirty="0"/>
              <a:t> </a:t>
            </a:r>
            <a:r>
              <a:rPr dirty="0" err="1"/>
              <a:t>гипертекстовые</a:t>
            </a:r>
            <a:r>
              <a:rPr dirty="0"/>
              <a:t> </a:t>
            </a:r>
            <a:r>
              <a:rPr dirty="0" err="1"/>
              <a:t>документы</a:t>
            </a:r>
            <a:r>
              <a:rPr dirty="0"/>
              <a:t> (HTML),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принципу</a:t>
            </a:r>
            <a:r>
              <a:rPr dirty="0"/>
              <a:t> «</a:t>
            </a:r>
            <a:r>
              <a:rPr dirty="0" err="1"/>
              <a:t>запрос</a:t>
            </a:r>
            <a:r>
              <a:rPr dirty="0"/>
              <a:t> → </a:t>
            </a:r>
            <a:r>
              <a:rPr dirty="0" err="1"/>
              <a:t>ответ</a:t>
            </a:r>
            <a:r>
              <a:rPr dirty="0"/>
              <a:t>»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 lang="ru-RU" dirty="0"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rPr dirty="0" err="1"/>
              <a:t>Создан</a:t>
            </a:r>
            <a:r>
              <a:rPr dirty="0"/>
              <a:t> </a:t>
            </a:r>
            <a:r>
              <a:rPr dirty="0" err="1"/>
              <a:t>Тимом</a:t>
            </a:r>
            <a:r>
              <a:rPr dirty="0"/>
              <a:t> </a:t>
            </a:r>
            <a:r>
              <a:rPr dirty="0" err="1"/>
              <a:t>Бернерсом-Ли</a:t>
            </a:r>
            <a:r>
              <a:rPr dirty="0"/>
              <a:t> в 1989 </a:t>
            </a:r>
            <a:r>
              <a:rPr dirty="0" err="1"/>
              <a:t>году</a:t>
            </a:r>
            <a:endParaRPr lang="ru-RU" dirty="0"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rPr dirty="0" err="1"/>
              <a:t>Стандартные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: 80 (HTTP), 443 (HTTPS)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rPr dirty="0"/>
              <a:t>Stateless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самодостаточен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предыдущих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rPr dirty="0" err="1"/>
              <a:t>Транспорт</a:t>
            </a:r>
            <a:r>
              <a:rPr dirty="0"/>
              <a:t>: TCP (HTTP/1.x, HTTP/2) </a:t>
            </a:r>
            <a:r>
              <a:rPr dirty="0" err="1"/>
              <a:t>или</a:t>
            </a:r>
            <a:r>
              <a:rPr dirty="0"/>
              <a:t> UDP (HTTP/3)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Эволюция HTTP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Версия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Год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Ключевое нововведение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HTTP/0.9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1991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Только метод 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HTTP/1.0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1996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Заголовки, POST, HEAD, коды ответа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HTTP/1.1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1997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Keep-alive, конвейерная обработка, виртуальный хостинг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HTTP/2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Мультиплексирование, сжатие заголовков, Server Push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HTTP/3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QUIC вместо TCP, 0-RTT, встроенный TLS 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Структура HTTP-запроса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1. Стартовая строка — метод + URL + версия протокола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2. Заголовки — пары ключ-значение (метаданные)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3. Тело запроса — данные для POST/PUT (необязательно)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10515600" cy="3200400"/>
          </a:xfrm>
          <a:prstGeom prst="rect">
            <a:avLst/>
          </a:prstGeom>
          <a:solidFill>
            <a:srgbClr val="4A0E1C"/>
          </a:solidFill>
          <a:ln w="1270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E8D8DD"/>
                </a:solidFill>
                <a:latin typeface="Consolas"/>
              </a:defRPr>
            </a:pPr>
            <a:r>
              <a:t>GET /articles/http-basics HTTP/1.1</a:t>
            </a:r>
            <a:br/>
            <a:r>
              <a:t>Host: example.com</a:t>
            </a:r>
            <a:br/>
            <a:r>
              <a:t>User-Agent: Mozilla/5.0</a:t>
            </a:r>
            <a:br/>
            <a:r>
              <a:t>Accept: text/html</a:t>
            </a:r>
            <a:br/>
            <a:r>
              <a:t>Connection: keep-alive</a:t>
            </a:r>
            <a:br/>
            <a:r>
              <a:t>Cookie: session_id=abc123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HTTP-методы и коды состояния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03103"/>
              </p:ext>
            </p:extLst>
          </p:nvPr>
        </p:nvGraphicFramePr>
        <p:xfrm>
          <a:off x="822960" y="14173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Метод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Идемпотент.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Получение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rPr lang="ru-RU" dirty="0"/>
                        <a:t>+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Создание ресурса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rPr lang="ru-RU" dirty="0"/>
                        <a:t>-</a:t>
                      </a:r>
                      <a:endParaRPr dirty="0"/>
                    </a:p>
                  </a:txBody>
                  <a:tcPr>
                    <a:solidFill>
                      <a:srgbClr val="FA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Полная замена ресурса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rPr lang="ru-RU" dirty="0"/>
                        <a:t>+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Частичное обновление</a:t>
                      </a:r>
                    </a:p>
                  </a:txBody>
                  <a:tcPr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rPr lang="ru-RU" dirty="0"/>
                        <a:t>_</a:t>
                      </a:r>
                      <a:endParaRPr dirty="0"/>
                    </a:p>
                  </a:txBody>
                  <a:tcPr>
                    <a:solidFill>
                      <a:srgbClr val="FA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t>Удаление ресурса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0A12"/>
                          </a:solidFill>
                          <a:latin typeface="Segoe UI"/>
                        </a:defRPr>
                      </a:pPr>
                      <a:r>
                        <a:rPr lang="ru-RU" dirty="0"/>
                        <a:t>+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2B3C"/>
                </a:solidFill>
                <a:latin typeface="Segoe UI"/>
              </a:defRPr>
            </a:pPr>
            <a:r>
              <a:t>Коды: 1xx — информационные · 2xx — успех · 3xx — перенаправление · 4xx — ошибка клиента · 5xx — ошибка сервера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Жизненный цикл HTTP-запроса — 9 этапов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1.  Инициация (клик, ввод URL, отправка формы)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2.  DNS-резолвинг — домен → IP-адрес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3.  TCP-рукопожатие (SYN → SYN-ACK → ACK)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4.  TLS-рукопожатие (при HTTPS)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5.  Отправка HTTP-запроса на сервер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6.  Обработка на сервере (бизнес-логика)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7.  Отправка HTTP-ответа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8.  Рендеринг в браузере (HTML, CSS, JS)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9.  Закрытие или поддержание соединения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Передача через сетевой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Вниз (клиент → сервер):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Прикладной → Транспортный (TCP) → Сетевой (IP) → Канальный → Физический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На сервере (обратно):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Сборка пакетов → Парсинг заголовков → Маршрутизация → Бизнес-логика → Ответ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Оптимизации: gzip / brotli · keep-alive · конвейерная обработка · кэширование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HTTPS, HTTP/2, HTTP/3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HTTPS — HTTP + SSL/TLS: конфиденциальность, целостность, аутентификация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ClientHello → ServerHello → сертификат → обмен ключами → защищённый канал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HTTP/2 (2015):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Мультиплексирование — параллельно через одно соединение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Бинарный формат, сжатие заголовков (HPACK), Server Push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HTTP/3 (2022):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QUIC на базе UDP, 0-RTT, встроенный TLS 1.3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Лучше при потере пакетов и смене сетей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Механизмы веб-безопасности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CSP (Content-Security-Policy) — контроль загружаемых ресурсов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HSTS — принудительное использование HTTPS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CORS — управление междоменным доступом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X-Frame-Options — защита от кликджекинга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X-XSS-Protection — защита от XSS-атак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SameSite cookies — ограничение межсайтовых запросов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Практические кейсы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Кейс 1: Лимит соединений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Проблема: лимит 6 соединений на домен (HTTP/1.1) → таймауты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Решение: переход на HTTP/2 (мультиплексирование)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Результат: загрузка быстрее на 40%, разрывы — до нуля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Кейс 2: Мобильная оптимизация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Проблема: &gt; 5 сек до отображения, десятки отдельных запросов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Решение: объединение файлов, lazy loading, кэширование + HTTP/2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Результат: загрузка быстрее на 67%, конверсия +23%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Что такое паттерны проектирования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Эффективные способы решения характерных задач проектирования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Обобщённое описание решения, применимое в разных ситуациях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ООП-паттерны описывают отношения и взаимодействия между классами и объектами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Алгоритмы — НЕ паттерны (решают задачу вычисления, а не проектирования)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Не зависят от языка программирования — в отличие от идиом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Порождающие паттерны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Назначение: абстрагируют процесс инстанцирования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Abstract Factory — семейства взаимосвязанных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Builder — пошаговая сборка сложного объекта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Factory Method — делегирование создания подклассам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Prototype — клонирование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Singleton — единственный экземпляр класса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Abstract Factory — Абстрактная фабрика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Назначение: интерфейс для создания семейств взаимосвязанных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без указания конкретных классов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Когда применять: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Система не зависит от способа создания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Взаимосвязанные объекты используются вместе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Нужно скрыть реализацию, раскрыв только интерфейсы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Пример: кроссплатформенный GUI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CUIFactory → CWindowsUIFactory / CMacOSXUIFactory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Продукты: CButton, CCheckBox, CRadioButton (+ реализации для ОС)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Abstract Factory — плюсы и минусы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Плюсы: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Изоляция конкретных классов — клиент работает через интерфейсы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Упрощение замены семейств — подставляется новая фабрика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Гарантия сочетаемости продуктов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Минусы: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Трудно добавлять новые типы продуктов — нужно менять все фабрики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Продукты должны поддерживать общий интерфейс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Клиент не может различать типы продуктов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Builder — Строитель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Назначение: отделяет конструирование сложного объекта от его представления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Один процесс → разные представления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Участники: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Director — управляет процессом через интерфейс Builder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Builder — абстрактный интерфейс для частей продукта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ConcreteBuilder — реализует сборку, отдаёт GetResult()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Product — итоговый сложный объект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Пример: CFormattedTextReader → CPDFConverter / CHtmlConverter / CPlainTextConverter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Builder — достоинства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Позволяет изменять внутреннее представление продукта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Новая реализация Builder → новое представление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Изолирует код конструирования от представления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Клиенту не нужно знать классы внутренней структуры продукта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Тонкий контроль над процессом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Сборка по шагам, а не сразу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Factory Method — Фабричный метод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Назначение: определяет интерфейс для создания объекта,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но оставляет подклассам решение, какой класс инстанцировать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Альтернативное название — «Виртуальный конструктор»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Когда применять: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Классу заранее неизвестно, объекты каких классов создавать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Объекты специфицируются подклассами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Пример: CApplication.CreateDocument() → return new CMyDocument()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Factory Method — плюсы и минусы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Плюсы: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Избавляет от встраивания в код зависящих от приложения классов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Код работает только с интерфейсом Product — совместим с любыми продуктами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Минусы: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Возможно, придётся создавать подкласс Creator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только ради создания одного ConcreteProduct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00020"/>
                </a:solidFill>
                <a:latin typeface="Segoe UI"/>
              </a:defRPr>
            </a:pPr>
            <a: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HTTP: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Протокол «запрос-ответ», stateless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Жизненный цикл: от DNS-резолвинга до рендеринга в браузере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Эволюция: HTTP/0.9 → HTTP/3 (QUIC)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HTTPS, HTTP/2, HTTP/3 — производительность и безопасность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Паттерны: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Порождающие паттерны абстрагируют создание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Abstract Factory — семейства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Builder — пошаговая сборка сложного объекта</a:t>
            </a:r>
          </a:p>
          <a:p>
            <a:pPr>
              <a:spcAft>
                <a:spcPts val="800"/>
              </a:spcAft>
              <a:defRPr sz="1800">
                <a:solidFill>
                  <a:srgbClr val="2B0A12"/>
                </a:solidFill>
                <a:latin typeface="Segoe UI"/>
              </a:defRPr>
            </a:pPr>
            <a:r>
              <a:t>    Factory Method — делегирование создания подклассам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2B3C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2450</Words>
  <Application>Microsoft Office PowerPoint</Application>
  <PresentationFormat>Широкоэкранный</PresentationFormat>
  <Paragraphs>246</Paragraphs>
  <Slides>19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Софья Галаева</cp:lastModifiedBy>
  <cp:revision>2</cp:revision>
  <dcterms:created xsi:type="dcterms:W3CDTF">2013-01-27T09:14:16Z</dcterms:created>
  <dcterms:modified xsi:type="dcterms:W3CDTF">2026-09-29T10:11:23Z</dcterms:modified>
  <cp:category/>
</cp:coreProperties>
</file>